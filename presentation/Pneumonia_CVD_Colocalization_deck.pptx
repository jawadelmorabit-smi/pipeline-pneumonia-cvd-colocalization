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737360"/>
            <a:ext cx="4572000" cy="4572000"/>
          </a:xfrm>
          <a:prstGeom prst="ellipse">
            <a:avLst/>
          </a:prstGeom>
          <a:solidFill>
            <a:srgbClr val="4A1723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931920"/>
            <a:ext cx="4754880" cy="4754880"/>
          </a:xfrm>
          <a:prstGeom prst="ellipse">
            <a:avLst/>
          </a:prstGeom>
          <a:solidFill>
            <a:srgbClr val="4A172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1  -  PROJECT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Genetic Architecture between Bacterial Pneumonia and Cardiovascular Disease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7C9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GWAS-eQTL colocalization analysis  -  Pneumonia pilot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Jaouad El Morabit</a:t>
            </a:r>
            <a:pPr indent="0" marL="0">
              <a:buNone/>
            </a:pPr>
            <a:r>
              <a:rPr lang="en-US" sz="150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(Data &amp; QC)   -   C. Taha  -  L. Celistin  -  H. Arbaoui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Cherng Yang   -   16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talk covers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179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hypothesis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0" y="15361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link infection and CVD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384048" cy="384048"/>
          </a:xfrm>
          <a:prstGeom prst="ellipse">
            <a:avLst/>
          </a:prstGeom>
          <a:solidFill>
            <a:srgbClr val="5E908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2951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23134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GWAS, eQTL, colocalization (PP.H0-H4)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0723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&amp; data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0" y="30906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FinnGen GWAS x GTEx eQTL, QC, harmonization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5E90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49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Colocalization results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0" y="38679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pneumonia loci tested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268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CVD gene overlap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0" y="46451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genes, Venn diagram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384048" cy="384048"/>
          </a:xfrm>
          <a:prstGeom prst="ellipse">
            <a:avLst/>
          </a:prstGeom>
          <a:solidFill>
            <a:srgbClr val="5E908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04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&amp; conclusion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943600" y="54223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Biology, limitations, next steps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disease burdens, one possible genetic root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6EC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observation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infections (pneumonia, sepsis...) and cardiovascular disease are leading causes of death worldwide.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links them: infection raises short- and long-term cardiovascular risk.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involve immune activation and inflammation - shared biology is plausible.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4EEE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infection susceptibility and CVD share CAUSAL genetic variants?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variant drives both, it likely acts through immune / inflammatory gene regulation.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with genetics: overlap between GWAS signals and expression QTLs (eQTL).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hypothesis and analytical logic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pPr algn="l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bacterial-infection susceptibility and CVD share causal variants acting through immune and inflammatory pathways, detectable as overlap between GWAS signals and tissue-specific eQTLs.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C038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GWAS signal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78608" y="292608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E6E"/>
                </a:solidFill>
              </a:rPr>
              <a:t>&gt;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035808" y="29260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5E9080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2926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Colocalizes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tissue eQTL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74336" y="292608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E6E"/>
                </a:solidFill>
              </a:rPr>
              <a:t>&gt;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31536" y="29260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C0384E"/>
          </a:solidFill>
          <a:ln/>
        </p:spPr>
      </p:sp>
      <p:sp>
        <p:nvSpPr>
          <p:cNvPr id="12" name="Text 10"/>
          <p:cNvSpPr/>
          <p:nvPr/>
        </p:nvSpPr>
        <p:spPr>
          <a:xfrm>
            <a:off x="5431536" y="2926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Implicates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gene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70064" y="292608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E6E"/>
                </a:solidFill>
              </a:rPr>
              <a:t>&gt;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827264" y="29260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5E9080"/>
          </a:solidFill>
          <a:ln/>
        </p:spPr>
      </p:sp>
      <p:sp>
        <p:nvSpPr>
          <p:cNvPr id="15" name="Text 13"/>
          <p:cNvSpPr/>
          <p:nvPr/>
        </p:nvSpPr>
        <p:spPr>
          <a:xfrm>
            <a:off x="7827264" y="2926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CVD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list?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65792" y="292608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E6E"/>
                </a:solidFill>
              </a:rPr>
              <a:t>&gt;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0222992" y="29260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3B1219"/>
          </a:solidFill>
          <a:ln/>
        </p:spPr>
      </p:sp>
      <p:sp>
        <p:nvSpPr>
          <p:cNvPr id="18" name="Text 16"/>
          <p:cNvSpPr/>
          <p:nvPr/>
        </p:nvSpPr>
        <p:spPr>
          <a:xfrm>
            <a:off x="10222992" y="29260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6ECE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37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(supervisor's brief):  </a:t>
            </a:r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complete, robust pipeline on pneumonia first; extend the same workflow to other traits only if it works. The deliverable is a presentation, not software.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infection traits, tissue-specific eQTLs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trait: whole blood + one trait-relevant tissue (fixed by the supervisor). Pneumonia is the pilot.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15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29184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 trait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12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Pneumonia  (pilot)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C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12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blood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C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12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CE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Infective endocarditis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blood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Artery (tibial)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blood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Periodontitis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blood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Artery (tibial)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pylori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blood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Stomach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Tuberculosis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blood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tissue rationale: lung = primary infection site; whole blood = shared immune readout for all traits.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GWAS and eQTL - the two signals we compare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6ECE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each SNP with a trait (here: pneumonia case/control).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SNP: effect size, standard error, p-value, allele frequency.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WHERE on the genome disease risk sits - not which gene.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4EEE9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783080"/>
            <a:ext cx="384048" cy="384048"/>
          </a:xfrm>
          <a:prstGeom prst="ellipse">
            <a:avLst/>
          </a:prstGeom>
          <a:solidFill>
            <a:srgbClr val="5E908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eQTL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each SNP with the expression of a nearby gene, in a given tissue.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GTEx v8 (whole blood, lung).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which gene a variant REGULATES, and in which tissue.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Colocalization: five competing hypotheses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region, coloc.abf returns posterior probabilities PP.H0-PP.H4 that sum to 1: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914400" cy="603504"/>
          </a:xfrm>
          <a:prstGeom prst="roundRect">
            <a:avLst>
              <a:gd name="adj" fmla="val 9091"/>
            </a:avLst>
          </a:prstGeom>
          <a:solidFill>
            <a:srgbClr val="6E6E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association with either trait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914400" cy="603504"/>
          </a:xfrm>
          <a:prstGeom prst="roundRect">
            <a:avLst>
              <a:gd name="adj" fmla="val 9091"/>
            </a:avLst>
          </a:prstGeom>
          <a:solidFill>
            <a:srgbClr val="9A8B8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919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37360" y="267919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with GWAS only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914400" cy="603504"/>
          </a:xfrm>
          <a:prstGeom prst="roundRect">
            <a:avLst>
              <a:gd name="adj" fmla="val 9091"/>
            </a:avLst>
          </a:prstGeom>
          <a:solidFill>
            <a:srgbClr val="9A8B8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9242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339242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with eQTL only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914400" cy="603504"/>
          </a:xfrm>
          <a:prstGeom prst="roundRect">
            <a:avLst>
              <a:gd name="adj" fmla="val 9091"/>
            </a:avLst>
          </a:prstGeom>
          <a:solidFill>
            <a:srgbClr val="3B121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05656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7360" y="410565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associated - DIFFERENT causal variants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818888"/>
            <a:ext cx="914400" cy="603504"/>
          </a:xfrm>
          <a:prstGeom prst="roundRect">
            <a:avLst>
              <a:gd name="adj" fmla="val 9091"/>
            </a:avLst>
          </a:prstGeom>
          <a:solidFill>
            <a:srgbClr val="5E908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1888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481888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associated - SAME (shared) causal variant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3DCE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7058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a colocalization when PP.H4 &gt; 0.5.  </a:t>
            </a:r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= shared cause (interesting);  H3 = same region, different variants (not shared).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Yang's pipeline, applied end-to-end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4A1723"/>
          </a:solidFill>
          <a:ln w="12700">
            <a:solidFill>
              <a:srgbClr val="C038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39112"/>
            <a:ext cx="502920" cy="502920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GWAS prep &amp; QC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FinnGen DF13, confirm hg38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4A1723"/>
          </a:solidFill>
          <a:ln w="12700">
            <a:solidFill>
              <a:srgbClr val="5E9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2039112"/>
            <a:ext cx="502920" cy="502920"/>
          </a:xfrm>
          <a:prstGeom prst="ellipse">
            <a:avLst/>
          </a:prstGeom>
          <a:solidFill>
            <a:srgbClr val="5E9080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60520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eQTL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GTEx v8 blood + lung (EBI API)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4A1723"/>
          </a:solidFill>
          <a:ln w="12700">
            <a:solidFill>
              <a:srgbClr val="C038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2039112"/>
            <a:ext cx="502920" cy="502920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95160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Harmonize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 match, allele align, filter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4A1723"/>
          </a:solidFill>
          <a:ln w="12700">
            <a:solidFill>
              <a:srgbClr val="5E9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2" y="2039112"/>
            <a:ext cx="502920" cy="502920"/>
          </a:xfrm>
          <a:prstGeom prst="ellipse">
            <a:avLst/>
          </a:prstGeom>
          <a:solidFill>
            <a:srgbClr val="5E9080"/>
          </a:solidFill>
          <a:ln/>
        </p:spPr>
      </p:sp>
      <p:sp>
        <p:nvSpPr>
          <p:cNvPr id="21" name="Text 19"/>
          <p:cNvSpPr/>
          <p:nvPr/>
        </p:nvSpPr>
        <p:spPr>
          <a:xfrm>
            <a:off x="921715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829800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Colocalize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35440" y="2651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coloc.abf per gene x tissue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4A1723"/>
          </a:solidFill>
          <a:ln w="12700">
            <a:solidFill>
              <a:srgbClr val="C038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005072"/>
            <a:ext cx="502920" cy="502920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25880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genes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152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tissues, PP.H0-H4 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4A1723"/>
          </a:solidFill>
          <a:ln w="12700">
            <a:solidFill>
              <a:srgbClr val="5E9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47872" y="4005072"/>
            <a:ext cx="502920" cy="502920"/>
          </a:xfrm>
          <a:prstGeom prst="ellipse">
            <a:avLst/>
          </a:prstGeom>
          <a:solidFill>
            <a:srgbClr val="5E9080"/>
          </a:solidFill>
          <a:ln/>
        </p:spPr>
      </p:sp>
      <p:sp>
        <p:nvSpPr>
          <p:cNvPr id="31" name="Text 29"/>
          <p:cNvSpPr/>
          <p:nvPr/>
        </p:nvSpPr>
        <p:spPr>
          <a:xfrm>
            <a:off x="354787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160520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CVD overlap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56616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 gene list + Venn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4A1723"/>
          </a:solidFill>
          <a:ln w="12700">
            <a:solidFill>
              <a:srgbClr val="C038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4005072"/>
            <a:ext cx="502920" cy="502920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995160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0080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biology: inflammation, immunity, vasculature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set by supervisor: PP.H4 &gt; 0.5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inputs - and why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Pneumonia GWAS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FinnGen Data Freeze 13 (J10_PNEUMONIA)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ancestry (matches GTEx); hg38; 21.3M variants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eQTL (blood, lung, liver)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 eQTL Catalogue v2 (GTEx v8)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Region-queryable API; liver added for CRP/HNF1A (D3)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CVD gene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cvd_genes.txt (supervisor)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4,309 HGNC symbols for gene-level overlap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4EEE9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36752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E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 parameters (locked):  </a:t>
            </a:r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500,186  |  cases = 84,364  |  s = 0.1687  |  case-control.   Both datasets hg38 -&gt; no liftOver.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Genome build - the #1 failure point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6EC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GWAS and eQTL must be on the SAME genome build.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hg19 and hg38 shifts positions by thousands of bp - SNPs silently mis-match.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 then compares the wrong variants.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4EEE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check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FinnGen DF13 = hg38.  GTEx v8 = hg38.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build -&gt; no liftOver needed (verified on a shared lead SNP).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from allele frequency; ambiguous strand SNPs handled at harmonization.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Harmonization - three checks per SNP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SNPs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63440" y="1737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chromosome + position + sorted allele pair, per gene region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384048" cy="384048"/>
          </a:xfrm>
          <a:prstGeom prst="ellipse">
            <a:avLst/>
          </a:prstGeom>
          <a:solidFill>
            <a:srgbClr val="5E908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effect allele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eQTL beta sign when ref/alt are swapped vs the GWAS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384048" cy="384048"/>
          </a:xfrm>
          <a:prstGeom prst="ellipse">
            <a:avLst/>
          </a:prstGeom>
          <a:solidFill>
            <a:srgbClr val="C0384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ambiguous SNPs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A/T and C/G variants near MAF 0.5 (strand-flip risk)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6ECE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230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per region:  </a:t>
            </a:r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SNPs present in BOTH datasets. Late fix: coloc.abf needs unique SNPs -&gt; duplicate multiallelic keys removed first.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GWAS scan: where are the signals?</a:t>
            </a:r>
            <a:endParaRPr lang="en-US" sz="2700" dirty="0"/>
          </a:p>
        </p:txBody>
      </p:sp>
      <p:pic>
        <p:nvPicPr>
          <p:cNvPr id="4" name="Image 0" descr="figures/fig_hits_per_ch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86384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645920"/>
            <a:ext cx="2926080" cy="3931920"/>
          </a:xfrm>
          <a:prstGeom prst="roundRect">
            <a:avLst>
              <a:gd name="adj" fmla="val 2500"/>
            </a:avLst>
          </a:prstGeom>
          <a:solidFill>
            <a:srgbClr val="F6ECEE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Read-out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69680" y="2194560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 genome-wide significant variants.</a:t>
            </a:r>
            <a:endParaRPr lang="en-US" sz="13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loci across the genome.</a:t>
            </a:r>
            <a:endParaRPr lang="en-US" sz="13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chr6 (MHC) largest but excluded.</a:t>
            </a:r>
            <a:endParaRPr lang="en-US" sz="13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clean loci taken forward.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pipeline work? Recover known genes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4EE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pneumonia GWAS report...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Biobank + FinnGen meta-analysis: two chr15 loci, HYKK and smoking genes CHRNA3 / CHRNA5.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Communications 2022: MUC5AC, TNFRSF1A (fine-mapped).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6ECEE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...our pipeline recovers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5E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chr15 lead: HYKK, CHRNA3, CHRNA5  (recovered)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15q25 locus as the published studies.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MUC5AC / TNFRSF1A not recovered - different study, larger N, nearest-gene limits.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HYKK + CHRNA3/5 confirms the pipeline reproduces established biology.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Loci taken to colocalization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3108960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chr15 (15q25)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- blood + lung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chr1 (CRP)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- blood + lung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chr12 (HNF1A)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- blood + lung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chr9 (TNFSF15)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- blood + lung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chr2 (IFIH1)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testable - no IFIH1 eQTL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chr5 (CDH6)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 - underpowered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chr6 (MHC)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- extreme 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691640"/>
            <a:ext cx="3200400" cy="4023360"/>
          </a:xfrm>
          <a:prstGeom prst="roundRect">
            <a:avLst>
              <a:gd name="adj" fmla="val 2286"/>
            </a:avLst>
          </a:prstGeom>
          <a:solidFill>
            <a:srgbClr val="E4EEE9"/>
          </a:solidFill>
          <a:ln/>
        </p:spPr>
      </p:sp>
      <p:sp>
        <p:nvSpPr>
          <p:cNvPr id="6" name="Text 3"/>
          <p:cNvSpPr/>
          <p:nvPr/>
        </p:nvSpPr>
        <p:spPr>
          <a:xfrm>
            <a:off x="86410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rule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41080" y="2286000"/>
            <a:ext cx="2788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GWAS signal to define a peak.</a:t>
            </a:r>
            <a:endParaRPr lang="en-US" sz="13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cis-eQTL available in blood/lung.</a:t>
            </a:r>
            <a:endParaRPr lang="en-US" sz="13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MHC.</a:t>
            </a:r>
            <a:endParaRPr lang="en-US" sz="13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loci qualify.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(4) - CHR15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15q25: the smoking / immune locus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EC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genes (both signals present)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CTSH (cathepsin H) - candidate #1, both tissues, immune gene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IREB2, CIB2, TBC1D2B (blood); RASGRF1 (lung)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GWAS hits; strong eQTLs alongside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4EEE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Colocalization outcome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PP.H3 approx 1 for every strong gene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PP.H4 max approx 0.02 - no colocalization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signals, different causal variants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15q25 is a known MULTI-signal (smoking) locus - a first hint that single-variant coloc may be limited here.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(5) - CHR1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CRP: the inflammation locus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EC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genes (both signals present)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SLAMF8, IGSF8, COPA, NCSTN, AIM2, MNDA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dense with immune / inflammatory genes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gene itself has no blood/lung eQTL (liver gene)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4EEE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Colocalization outcome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PP.H3 approx 1 across strong genes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PP.H4 max 0.10 (H1-driven, not shared)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colocalization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rich region for the hypothesis - but still distinct causal variants.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(6) - CHR12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HNF1A: an inflammation-to-CVD bridge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EC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genes (both signals present)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P2RX4 - purinergic receptor, inflammation &amp; endothelial function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COQ5, C12orf43, KDM2B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HNF1A regulates CRP; no HNF1A eQTL in blood/lung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4EEE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Colocalization outcome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PP.H3 approx 1 (incl. P2RX4)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PP.H4 max 0.29 - highest of the study, still &lt; 0.5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colocalization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PP.H4 anywhere (0.29) is a non-coding RNA - not a shared-cause signal.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(7) - CHR9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TNFSF15: testing the hypothesis gene directly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EC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genes (both signals present)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TNFSF15 itself HAS a strong blood eQTL - ideal test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ORM1 (orosomucoid, acute-phase protein)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underpowered here (GWAS p only ~1e-3)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4EEE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Colocalization outcome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TNFSF15: PP.H3 = 0.999 (blood)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ideal gene -&gt; distinct causal variants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colocalization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possible on-hypothesis test still returns H3, not H4.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result, in one figure</a:t>
            </a:r>
            <a:endParaRPr lang="en-US" sz="2700" dirty="0"/>
          </a:p>
        </p:txBody>
      </p:sp>
      <p:pic>
        <p:nvPicPr>
          <p:cNvPr id="4" name="Image 0" descr="figures/fig_coloc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86384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645920"/>
            <a:ext cx="2926080" cy="3931920"/>
          </a:xfrm>
          <a:prstGeom prst="roundRect">
            <a:avLst>
              <a:gd name="adj" fmla="val 2500"/>
            </a:avLst>
          </a:prstGeom>
          <a:solidFill>
            <a:srgbClr val="F3DCE1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result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69680" y="2194560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gene x tissue tests (3 tissues).</a:t>
            </a:r>
            <a:endParaRPr lang="en-US" sz="13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colocalizations (no PP.H4 &gt; 0.5).</a:t>
            </a:r>
            <a:endParaRPr lang="en-US" sz="13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PP.H3 approx 1 wherever both signals are strong.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(1)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H3 everywhere? Two readings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6EC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- biological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risk at these loci is NOT mediated by cis-expression of these genes in blood/lung.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interpretable result - the signals simply are not the same variant.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4EEE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B - methodological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coloc.abf assumes ONE causal variant per region.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chr15, CRP, HNF1A are multi-signal -&gt; H3 can mask a hidden colocalization.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coloc.susie handles multiple signals (needs an LD panel) - the rigorous next step.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(2)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limits: loci we could not test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3DCE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9280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chr2 - IFIH1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49040" y="18928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GWAS hit AND no cis-eQTL for IFIH1 in blood/lung. Colocalization is impossible - the data does not exist in these tissues.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6ECE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101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chr5 - CDH6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33101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hits (4) - underpowered to define a peak for coloc.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6ECE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72744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chr6 - MHC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472744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by design: extreme, extended LD makes colocalization uninterpretable across immune traits.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- LIVER (SUPERVISOR'S D3)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liver rescue CRP / HNF1A?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4EE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liver?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and HNF1A are primarily LIVER-expressed and had no blood/lung eQTL.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is the natural tissue to test them - added on the supervisor's suggestion (D3).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GTEx v8 liver eQTL (EBI Catalogue) fetched for the CRP and HNF1A loci.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6ECEE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 and HNF1A still have NO cis-eQTL in liver -&gt; lead genes remain untestable.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neighbouring gene was testable -&gt; PP.H3 approx 1 again.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colocalization in liver either.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3DCE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888736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 </a:t>
            </a:r>
            <a:pPr algn="l" indent="0" marL="0">
              <a:buNone/>
            </a:pPr>
            <a:r>
              <a:rPr lang="en-US" sz="13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holds across THREE tissues (blood, lung, liver). The limitation is confirmed, not resolved - a robust, honest finding.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OVERLAP (1)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genes and tissues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candidate genes (a GWAS AND an eQTL signal) across the four loci. * = also in the CVD list.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12648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genes (double signal)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1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CTSH*, IREB2, CIB2, TBC1D2B, RASGRF1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+ lung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chr1 (CRP)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IGSF8*, PIGM*, CASQ1*, SLAMF8, COPA, NCSTN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+ lung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chr12 (HNF1A)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P2RX4*, COQ5*, C12orf43, POP5, KDM2B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+ lung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chr9 (TNFSF15)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TNFSF15, ORM1*, WHRN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2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C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E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gene is also in the CVD list (cvd_genes.txt).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OVERLAP (2)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Gene-level overlap with CVD</a:t>
            </a:r>
            <a:endParaRPr lang="en-US" sz="2700" dirty="0"/>
          </a:p>
        </p:txBody>
      </p:sp>
      <p:pic>
        <p:nvPicPr>
          <p:cNvPr id="4" name="Image 0" descr="figures/venn_pneumonia_cv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623560" cy="3840480"/>
          </a:xfrm>
          <a:prstGeom prst="rect">
            <a:avLst/>
          </a:prstGeom>
        </p:spPr>
      </p:pic>
      <p:pic>
        <p:nvPicPr>
          <p:cNvPr id="5" name="Image 1" descr="figures/venn_candidates_cv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623560" cy="3840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3DCE1"/>
          </a:solidFill>
          <a:ln/>
        </p:spPr>
      </p:sp>
      <p:sp>
        <p:nvSpPr>
          <p:cNvPr id="7" name="Text 3"/>
          <p:cNvSpPr/>
          <p:nvPr/>
        </p:nvSpPr>
        <p:spPr>
          <a:xfrm>
            <a:off x="868680" y="5705856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(stated honestly):  </a:t>
            </a:r>
            <a:pPr algn="l" indent="0" marL="0">
              <a:buNone/>
            </a:pPr>
            <a:r>
              <a:rPr lang="en-US" sz="120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CVD list has 4,309 genes (~20% of protein-coding genes) - some overlap is expected by chance. A hit is suggestive, not proof; strengthened only by high PP.H4 (we have none) or clear biology.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(3)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Biology of the shared genes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EFF3F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P2RX4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81051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Purinergic receptor - inflammation (NLRP3) &amp; endothelial / vascular function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1635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EFF3F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8950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2889504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Cathepsin H - antigen processing, immunity; present in both tissues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95344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EFF3F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6849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ORM1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396849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Orosomucoid - acute-phase inflammation protein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74336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3DCE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474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CRP / HNF1A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50474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inflammation-to-CVD links (CRP level, cardiometabolic regulator)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sit on the inflammation / immunity axis of the hypothesis - but colocalization did not confirm a shared causal variant.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B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4A172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genes, but not shared causal variants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607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and CVD SHARE loci and genes: 7/16 GWAS-locus genes and 7 candidate genes are CVD genes (incl. CRP, HNF1A, P2RX4).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colocalization finds NO shared causal variants: PP.H3 approx 1 across all four loci.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3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overlap is at the gene / region level, not the causal-variant level - under coloc.abf's single-variant assumption, in blood, lung and liver.</a:t>
            </a:r>
            <a:endParaRPr lang="en-US" sz="16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reproducible result - and a validated, reusable pipeline for the other five traits.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1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strengthen this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6EC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Single-causal-variant assumption at multi-signal loci.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tissues tested (blood, lung, liver) - lead genes still lack cis-eQTL.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cis-eQTL for lead genes CRP, IFIH1, HNF1A.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CVD list -&gt; chance overlap.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4EEE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9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coloc.susie on multi-signal loci (with 1000G LD).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further disease-relevant tissues (artery, stomach).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PP.H4 at 0.5 and 0.8 (sensitivity).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eQTLGen (~31k) as a whole-blood supplement.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42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pipeline to the other 5 traits.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B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ACKNOWLEDGEMENTS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4A1723"/>
          </a:solidFill>
          <a:ln w="12700">
            <a:solidFill>
              <a:srgbClr val="C038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Jaouad El Morabit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QC Lead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47872" y="24688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4A1723"/>
          </a:solidFill>
          <a:ln w="12700">
            <a:solidFill>
              <a:srgbClr val="5E9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Cheikh Taha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85032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Colocalization Lead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64224" y="24688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4A1723"/>
          </a:solidFill>
          <a:ln w="12700">
            <a:solidFill>
              <a:srgbClr val="C038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Loua Celistin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01384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Lead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80576" y="24688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4A1723"/>
          </a:solidFill>
          <a:ln w="12700">
            <a:solidFill>
              <a:srgbClr val="5E9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17736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Hamza Arbaoui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17736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Writing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Cherng Yang   -   Pipeline based on his Project 3 workflow.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FinnGen DF13  -  GTEx v8 via EBI eQTL Catalogue  -  coloc (R).  Validation: Nat Commun 2022; UKB+FinnGen meta-analysis.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Pneumonia-CVD colocalization  |  Bioinformatics 1 - Project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Pneumonia-CVD GWAS-eQTL Colocalization</dc:title>
  <dc:subject>PptxGenJS Presentation</dc:subject>
  <dc:creator>Jaouad El Morabit</dc:creator>
  <cp:lastModifiedBy>Jaouad El Morabit</cp:lastModifiedBy>
  <cp:revision>1</cp:revision>
  <dcterms:created xsi:type="dcterms:W3CDTF">2026-07-16T15:53:37Z</dcterms:created>
  <dcterms:modified xsi:type="dcterms:W3CDTF">2026-07-16T15:53:37Z</dcterms:modified>
</cp:coreProperties>
</file>